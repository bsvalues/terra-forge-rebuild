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taxes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Lowest 20%</c:v>
                  </c:pt>
                  <c:pt idx="1">
                    <c:v>2nd 20%</c:v>
                  </c:pt>
                  <c:pt idx="2">
                    <c:v>Middle 20%</c:v>
                  </c:pt>
                  <c:pt idx="3">
                    <c:v>4th 20%</c:v>
                  </c:pt>
                  <c:pt idx="4">
                    <c:v>Next 15%</c:v>
                  </c:pt>
                  <c:pt idx="5">
                    <c:v>Next 4%</c:v>
                  </c:pt>
                  <c:pt idx="6">
                    <c:v>Top 1%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13.8</c:v>
                </c:pt>
                <c:pt idx="1">
                  <c:v>10.9</c:v>
                </c:pt>
                <c:pt idx="2">
                  <c:v>10.9</c:v>
                </c:pt>
                <c:pt idx="3">
                  <c:v>9.4</c:v>
                </c:pt>
                <c:pt idx="4">
                  <c:v>8</c:v>
                </c:pt>
                <c:pt idx="5">
                  <c:v>5.4</c:v>
                </c:pt>
                <c:pt idx="6">
                  <c:v>4.1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&amp; excise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Lowest 20%</c:v>
                  </c:pt>
                  <c:pt idx="1">
                    <c:v>2nd 20%</c:v>
                  </c:pt>
                  <c:pt idx="2">
                    <c:v>Middle 20%</c:v>
                  </c:pt>
                  <c:pt idx="3">
                    <c:v>4th 20%</c:v>
                  </c:pt>
                  <c:pt idx="4">
                    <c:v>Next 15%</c:v>
                  </c:pt>
                  <c:pt idx="5">
                    <c:v>Next 4%</c:v>
                  </c:pt>
                  <c:pt idx="6">
                    <c:v>Top 1%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10.9</c:v>
                </c:pt>
                <c:pt idx="1">
                  <c:v>8.7</c:v>
                </c:pt>
                <c:pt idx="2">
                  <c:v>7.5</c:v>
                </c:pt>
                <c:pt idx="3">
                  <c:v>6.1</c:v>
                </c:pt>
                <c:pt idx="4">
                  <c:v>4.7</c:v>
                </c:pt>
                <c:pt idx="5">
                  <c:v>3</c:v>
                </c:pt>
                <c:pt idx="6">
                  <c:v>1.6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Property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Lowest 20%</c:v>
                  </c:pt>
                  <c:pt idx="1">
                    <c:v>2nd 20%</c:v>
                  </c:pt>
                  <c:pt idx="2">
                    <c:v>Middle 20%</c:v>
                  </c:pt>
                  <c:pt idx="3">
                    <c:v>4th 20%</c:v>
                  </c:pt>
                  <c:pt idx="4">
                    <c:v>Next 15%</c:v>
                  </c:pt>
                  <c:pt idx="5">
                    <c:v>Next 4%</c:v>
                  </c:pt>
                  <c:pt idx="6">
                    <c:v>Top 1%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4.1</c:v>
                </c:pt>
                <c:pt idx="1">
                  <c:v>2.4</c:v>
                </c:pt>
                <c:pt idx="2">
                  <c:v>3.2</c:v>
                </c:pt>
                <c:pt idx="3">
                  <c:v>3.2</c:v>
                </c:pt>
                <c:pt idx="4">
                  <c:v>3</c:v>
                </c:pt>
                <c:pt idx="5">
                  <c:v>2.2</c:v>
                </c:pt>
                <c:pt idx="6">
                  <c:v>1.6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Vertical neutrality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D1</c:v>
                  </c:pt>
                  <c:pt idx="1">
                    <c:v>D2</c:v>
                  </c:pt>
                  <c:pt idx="2">
                    <c:v>D3</c:v>
                  </c:pt>
                  <c:pt idx="3">
                    <c:v>D4</c:v>
                  </c:pt>
                  <c:pt idx="4">
                    <c:v>D5</c:v>
                  </c:pt>
                  <c:pt idx="5">
                    <c:v>D6</c:v>
                  </c:pt>
                  <c:pt idx="6">
                    <c:v>D7</c:v>
                  </c:pt>
                  <c:pt idx="7">
                    <c:v>D8</c:v>
                  </c:pt>
                  <c:pt idx="8">
                    <c:v>D9</c:v>
                  </c:pt>
                  <c:pt idx="9">
                    <c:v>D10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0.95</c:v>
                </c:pt>
                <c:pt idx="1">
                  <c:v>0.95</c:v>
                </c:pt>
                <c:pt idx="2">
                  <c:v>0.95</c:v>
                </c:pt>
                <c:pt idx="3">
                  <c:v>0.95</c:v>
                </c:pt>
                <c:pt idx="4">
                  <c:v>0.95</c:v>
                </c:pt>
                <c:pt idx="5">
                  <c:v>0.95</c:v>
                </c:pt>
                <c:pt idx="6">
                  <c:v>0.95</c:v>
                </c:pt>
                <c:pt idx="7">
                  <c:v>0.95</c:v>
                </c:pt>
                <c:pt idx="8">
                  <c:v>0.95</c:v>
                </c:pt>
                <c:pt idx="9">
                  <c:v>0.95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Regressive tilt</c:v>
                </c:pt>
              </c:strCache>
            </c:strRef>
          </c:tx>
          <c:spPr>
            <a:solidFill>
              <a:srgbClr val="4F81BD"/>
            </a:solidFill>
            <a:ln w="25400" cap="flat">
              <a:solidFill>
                <a:srgbClr val="4F81B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D1</c:v>
                  </c:pt>
                  <c:pt idx="1">
                    <c:v>D2</c:v>
                  </c:pt>
                  <c:pt idx="2">
                    <c:v>D3</c:v>
                  </c:pt>
                  <c:pt idx="3">
                    <c:v>D4</c:v>
                  </c:pt>
                  <c:pt idx="4">
                    <c:v>D5</c:v>
                  </c:pt>
                  <c:pt idx="5">
                    <c:v>D6</c:v>
                  </c:pt>
                  <c:pt idx="6">
                    <c:v>D7</c:v>
                  </c:pt>
                  <c:pt idx="7">
                    <c:v>D8</c:v>
                  </c:pt>
                  <c:pt idx="8">
                    <c:v>D9</c:v>
                  </c:pt>
                  <c:pt idx="9">
                    <c:v>D10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0.98</c:v>
                </c:pt>
                <c:pt idx="1">
                  <c:v>0.97</c:v>
                </c:pt>
                <c:pt idx="2">
                  <c:v>0.96</c:v>
                </c:pt>
                <c:pt idx="3">
                  <c:v>0.95</c:v>
                </c:pt>
                <c:pt idx="4">
                  <c:v>0.94</c:v>
                </c:pt>
                <c:pt idx="5">
                  <c:v>0.93</c:v>
                </c:pt>
                <c:pt idx="6">
                  <c:v>0.92</c:v>
                </c:pt>
                <c:pt idx="7">
                  <c:v>0.9</c:v>
                </c:pt>
                <c:pt idx="8">
                  <c:v>0.88</c:v>
                </c:pt>
                <c:pt idx="9">
                  <c:v>0.86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2"/>
          <c:min val="0.8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 property ratio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Benton</c:v>
                  </c:pt>
                  <c:pt idx="1">
                    <c:v>Spokane</c:v>
                  </c:pt>
                  <c:pt idx="2">
                    <c:v>Yakima</c:v>
                  </c:pt>
                  <c:pt idx="3">
                    <c:v>Franklin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95.8</c:v>
                </c:pt>
                <c:pt idx="1">
                  <c:v>95</c:v>
                </c:pt>
                <c:pt idx="2">
                  <c:v>92.4</c:v>
                </c:pt>
                <c:pt idx="3">
                  <c:v>91.8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8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Washington State Capitol photo (Wikimedia Commons): https://upload.wikimedia.org/wikipedia/commons/thumb/9/90/The_Washington_State_Capitol.jpg/600px-The_Washington_State_Capitol.jpg
- Washington state outline map (public domain): https://commons.wikimedia.org/wiki/File:Washington-state-map_h.svg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IAAO: Standard on Ratio Studies (performance measures incl. PRD): https://www.iaao.org/wp-content/uploads/Standard_on_Ratio_Studies.pdf
- Washington DOR: Measuring Real Property Appraisal Performance (IAAO median/COD benchmarks used): https://dor.wa.gov/sites/default/files/2025-01/2024RatioReport.pdf
- Construction photo (Wikimedia Commons, CC BY-SA 4.0): https://commons.wikimedia.org/wiki/File:Light_Framing_Construction_Picture.jpg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ITEP Washington: Who Pays? 7th Edition (tax shares table; 2024 tax law): https://itep.org/washington-who-pays-7th-edition/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ITEP Washington: Who Pays? 7th Edition (component shares table; property &amp; sales/excise): https://itep.org/washington-who-pays-7th-edition/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Washington DOR (explains assessed value-to-market ratio concepts and uses IAAO benchmarks): https://dor.wa.gov/sites/default/files/2025-01/2024RatioReport.pdf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IAAO Standard on Ratio Studies (PRD guidance and bias interpretation): https://www.iaao.org/wp-content/uploads/Standard_on_Ratio_Studies.pdf
- IAAO Standard on Mass Appraisal (references PRD range and interpretation): https://www.iaao.org/wp-content/uploads/StandardOnMassAppraisal.pdf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IAAO Standard on Ratio Studies (median/COD/PRD guidance): https://www.iaao.org/wp-content/uploads/Standard_on_Ratio_Studies.pdf
- WA DOR Measuring Real Property Appraisal Performance (2024) describes median ratio and COD benchmark ranges used: https://dor.wa.gov/sites/default/files/2025-01/2024RatioReport.pdf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WA DOR Property Tax Ratios by County: 2024 for 2025 taxes (Benton 95.8; Spokane 95.0; Yakima 92.4; Franklin 91.8): https://dor.wa.gov/sites/default/files/2025-01/2024-ratios-2025%20taxes.pdf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IAAO Standard on Ratio Studies (discussion of PRD and bias; cautions on interpretation): https://www.iaao.org/wp-content/uploads/Standard_on_Ratio_Studies.pdf
- WA DOR appraisal performance report (explains why uniformity matters for proportional tax distribution): https://dor.wa.gov/sites/default/files/2025-01/2024RatioReport.pdf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IAAO Standard on Ratio Studies (design, stratification, PRD interpretation): https://www.iaao.org/wp-content/uploads/Standard_on_Ratio_Studies.pdf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WA Legislature bill summary for HB 1108 (status shows Gov vetoed; actions list includes May 20, 2025): https://app.leg.wa.gov/billsummary/?BillNumber=1108&amp;Initiative=false&amp;Year=2025
- House bill report E2SHB 1108 (WSIPP study summary): https://lawfilesext.leg.wa.gov/biennium/2025-26/Pdf/Bill%20Reports/House/1108-S2.E%20HBR%20PL%2025.pdf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WA Legislature bill summary (HB 2269): https://app.leg.wa.gov/billsummary?BillNumber=2269&amp;Initiative=false&amp;Year=2025
- HB 2269 bill text PDF (objective standards; large on-site sewage system language): https://lawfilesext.leg.wa.gov/biennium/2025-26/Pdf/Bills/House%20Bills/2269.pdf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Rep. Bernbaum official profile (committee membership): https://leg.wa.gov/legislators/member/adam-bernbaum
- ITEP Washington distributional data (regressivity evidence): https://itep.org/washington-who-pays-7th-edition/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IAAO Standard on Ratio Studies (core metrics; stratification concepts): https://www.iaao.org/wp-content/uploads/Standard_on_Ratio_Studies.pdf
- WA DOR (ratio studies used for performance evaluation; median ratio &amp; COD benchmarks): https://dor.wa.gov/sites/default/files/2025-01/2024RatioReport.pdf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ITEP Washington distributional data (regressivity context): https://itep.org/washington-who-pays-7th-edition/
- IAAO Standard on Ratio Studies (vertical equity measures): https://www.iaao.org/wp-content/uploads/Standard_on_Ratio_Studies.pdf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ssets/wa_capitol.jpg">    </p:cNvPr>
          <p:cNvPicPr>
            <a:picLocks noChangeAspect="1"/>
          </p:cNvPicPr>
          <p:nvPr/>
        </p:nvPicPr>
        <p:blipFill>
          <a:blip r:embed="rId1"/>
          <a:srcRect l="0" r="0" t="28999" b="28999"/>
          <a:stretch/>
        </p:blipFill>
        <p:spPr>
          <a:xfrm>
            <a:off x="0" y="0"/>
            <a:ext cx="12191695" cy="3840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384048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1520" y="960120"/>
            <a:ext cx="9875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Housing, Tax Fairness &amp;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Equity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77240" y="23317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measurement-first approach grounded in IAAO standards and Washington DOR ratio practice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1520" y="4160520"/>
            <a:ext cx="58978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51560" y="438912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deck does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51560" y="4754880"/>
            <a:ext cx="52578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Separates affordability from tax incidence</a:t>
            </a:r>
            <a:endParaRPr lang="en-US" sz="11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Defines regressivity vs. assessment equity</a:t>
            </a:r>
            <a:endParaRPr lang="en-US" sz="11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Shows what we can measure now</a:t>
            </a:r>
            <a:endParaRPr lang="en-US" sz="11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Proposes a low-risk pilot for continuous monitoring</a:t>
            </a:r>
            <a:endParaRPr lang="en-US" sz="1100" dirty="0"/>
          </a:p>
        </p:txBody>
      </p:sp>
      <p:pic>
        <p:nvPicPr>
          <p:cNvPr id="9" name="Image 1" descr="/mnt/data/assets/wa_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5934" y="4251960"/>
            <a:ext cx="3101852" cy="2057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" y="6556248"/>
            <a:ext cx="531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legislative and stakeholder discussion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6324448" y="6556248"/>
            <a:ext cx="531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map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priorities: housing supply / affordability, and tax fairness / regressivity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41248"/>
            <a:ext cx="2926080" cy="329184"/>
          </a:xfrm>
          <a:prstGeom prst="round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9052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557784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15544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distinction (policy-safe)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920240"/>
            <a:ext cx="493776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Affordability is driven primarily by supply constraints, financing, and construction inputs.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fairness is an incidence question (tax as % of income).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equity is narrower: whether the property tax base is applied proportionally across value tiers (vertical equity).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29400" y="1325880"/>
            <a:ext cx="4828032" cy="5074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157276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controllable (assessment administration)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03720" y="1920240"/>
            <a:ext cx="4526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level of assessment (median ratio)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uniformity (COD)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vertical equity (PRD / price-related bias)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appeal pressure as an outcome signal</a:t>
            </a:r>
            <a:endParaRPr lang="en-US" sz="1200" dirty="0"/>
          </a:p>
        </p:txBody>
      </p:sp>
      <p:pic>
        <p:nvPicPr>
          <p:cNvPr id="13" name="Image 0" descr="/mnt/data/assets/framing.jpg">    </p:cNvPr>
          <p:cNvPicPr>
            <a:picLocks noChangeAspect="1"/>
          </p:cNvPicPr>
          <p:nvPr/>
        </p:nvPicPr>
        <p:blipFill>
          <a:blip r:embed="rId1"/>
          <a:srcRect l="0" r="0" t="17803" b="17803"/>
          <a:stretch/>
        </p:blipFill>
        <p:spPr>
          <a:xfrm>
            <a:off x="6629400" y="4069080"/>
            <a:ext cx="4828032" cy="233172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629400" y="4069080"/>
            <a:ext cx="4828032" cy="233172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03720" y="5230368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Housing-form change increases valuation complexity →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protects fairness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6556248"/>
            <a:ext cx="531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Measurement-first framing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324448" y="6556248"/>
            <a:ext cx="531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Washington’s tax regressivity: what the data say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state + local tax rates are higher at low incomes than at high incomes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41248"/>
            <a:ext cx="2926080" cy="329184"/>
          </a:xfrm>
          <a:prstGeom prst="round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9052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incidence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107442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153619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state + local taxes as % of family income (Washington)</a:t>
            </a:r>
            <a:endParaRPr lang="en-US" sz="1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960120" y="1901952"/>
          <a:ext cx="105156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1051560" y="5257800"/>
            <a:ext cx="10149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regressivity is largely driven by the mix of taxes (especially sales &amp; excise).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equity does not change incidence, but it prevents *additional* regressivity via tier bias in the property tax base.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6556248"/>
            <a:ext cx="531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ITEP Who Pays? 7th Edition (Washington)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324448" y="6556248"/>
            <a:ext cx="531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property taxes fit in the regressivity story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taxes are a smaller share than sales/excise at low incomes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41248"/>
            <a:ext cx="2926080" cy="329184"/>
          </a:xfrm>
          <a:prstGeom prst="round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9052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incidence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109728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1536192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components as % of income (Washington)</a:t>
            </a:r>
            <a:endParaRPr lang="en-US" sz="1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960120" y="1901952"/>
          <a:ext cx="106984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1051560" y="52578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implication: If the goal is to reduce overall regressivity, sales/excise drivers dominate.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within property tax, the key fairness lever is vertical equity (avoid tier bias).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6556248"/>
            <a:ext cx="531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ITEP Who Pays? 7th Edition (WA)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324448" y="6556248"/>
            <a:ext cx="531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valorem property tax: what assessment can and cannot do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sets the base (value); policymakers set levies/rates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41248"/>
            <a:ext cx="2926080" cy="329184"/>
          </a:xfrm>
          <a:prstGeom prst="round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9052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tax fundamentals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10972800" cy="19202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69164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bill ≈ Assessed Value × (Aggregate Levy / Tax Base)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214884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equity determines whether “Assessed Value” is proportionate across properties (fair share).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474720"/>
            <a:ext cx="53492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51560" y="370332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can control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4069080"/>
            <a:ext cx="4709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(median ratio)</a:t>
            </a:r>
            <a:endParaRPr lang="en-US" sz="11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Uniformity (COD)</a:t>
            </a:r>
            <a:endParaRPr lang="en-US" sz="11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equity (PRD / price-related bias)</a:t>
            </a:r>
            <a:endParaRPr lang="en-US" sz="11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Transparency: model governance &amp; monitoring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3474720"/>
            <a:ext cx="53492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370332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cannot control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75120" y="4069080"/>
            <a:ext cx="4709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tax is regressive overall (incidence)</a:t>
            </a:r>
            <a:endParaRPr lang="en-US" sz="11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Levy decisions and caps</a:t>
            </a:r>
            <a:endParaRPr lang="en-US" sz="11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income constraints</a:t>
            </a:r>
            <a:endParaRPr lang="en-US" sz="11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pass-through dynamics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556248"/>
            <a:ext cx="531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equity is necessary but not sufficient for affordability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24448" y="6556248"/>
            <a:ext cx="531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equity: the “silent” regressivity lever inside property tax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and ratio-by-value-tier plots detect price-related bias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41248"/>
            <a:ext cx="2926080" cy="329184"/>
          </a:xfrm>
          <a:prstGeom prst="round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9052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equity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539496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15544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“regressive assessment” means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920240"/>
            <a:ext cx="475488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assessment ratios decline as property value rises, higher-value properties pay a smaller share of tax than intended.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IAAO flags this with PRD &gt; 1.03 (or other price-related bias measures).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distinct from “property tax is regressive” (an income-incidence claim).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55080" y="1325880"/>
            <a:ext cx="534924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29400" y="153619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 (ratio-by-value decile)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537960" y="1874520"/>
          <a:ext cx="50292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6537960" y="498348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Label: illustrative only (not Benton data)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537960" y="5230368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IAAO typical guidance: PRD ~ 0.98–1.03 suggests acceptable vertical equity (with context).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6556248"/>
            <a:ext cx="531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equity = proportionate treatment across value tiers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324448" y="6556248"/>
            <a:ext cx="531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Benchmarks: what “good” looks like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IAAO standards + Washington DOR performance report framing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41248"/>
            <a:ext cx="2926080" cy="329184"/>
          </a:xfrm>
          <a:prstGeom prst="round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9052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109728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155448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metrics used in ratio studies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51560" y="1965960"/>
            <a:ext cx="10332720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0574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0" y="205740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benchmark guidance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326880" y="20574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51560" y="2377440"/>
            <a:ext cx="103327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2514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ratio (level)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0" y="251460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be near statutory target (often 0.90–1.10 for market-value systems)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326880" y="25146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/ legality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51560" y="3337560"/>
            <a:ext cx="10332720" cy="96012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34747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(uniformity)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0" y="347472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often targeted 5–15%; nonresidential 5–20% (context matters)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26880" y="34747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equity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51560" y="4297680"/>
            <a:ext cx="103327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44348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/ PRB (vertical equity)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0480" y="443484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near 1.00 (often 0.98–1.03) suggests limited price-related bias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326880" y="44348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equity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51560" y="53492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benchmarks are guidance; sample size and market dispersion matter. Focus is on detecting material bias and protecting proportionality.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6556248"/>
            <a:ext cx="531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IAAO + WA DOR framing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24448" y="6556248"/>
            <a:ext cx="531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Benton County in context: assessment level vs peer counties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 indicated ratios (real property) — a “level” snapshot, not a vertical equity test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41248"/>
            <a:ext cx="2926080" cy="329184"/>
          </a:xfrm>
          <a:prstGeom prst="round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9052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Benton &amp; peers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109728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155448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property ratio (% of true &amp; fair market value) — 2024 for 2025 taxes</a:t>
            </a:r>
            <a:endParaRPr lang="en-US" sz="1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1051560" y="1920240"/>
          <a:ext cx="103327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1051560" y="5285232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maintaining level reduces the risk of systematic underassessment during fast market change.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not show: vertical equity within the county (PRD / tier bias) — that requires a sales-ratio study by value strata.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6556248"/>
            <a:ext cx="531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WA Department of Revenue — Property Tax Ratios by County (2024)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324448" y="6556248"/>
            <a:ext cx="531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“high performance” means in practice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not perfection every year—it’s controlled drift with rapid correction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41248"/>
            <a:ext cx="2926080" cy="329184"/>
          </a:xfrm>
          <a:prstGeom prst="round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9052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562356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155448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realistic definition of excellence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920240"/>
            <a:ext cx="498348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Excellence is not “no error.” It’s:</a:t>
            </a:r>
            <a:endParaRPr lang="en-US" sz="11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endParaRPr lang="en-US" sz="11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stable process that detects bias early</a:t>
            </a:r>
            <a:endParaRPr lang="en-US" sz="11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willingness to tolerate small short-run imperfections to avoid systematic tier bias</a:t>
            </a:r>
            <a:endParaRPr lang="en-US" sz="11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Governance: model updates are documented, tested, and explained</a:t>
            </a:r>
            <a:endParaRPr lang="en-US" sz="11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Outcomes: low COD without sales-chasing signals, PRD near 1.00, predictable appeal pressure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37960" y="1325880"/>
            <a:ext cx="5166360" cy="5074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12280" y="1572768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that make “local methods” defensible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12280" y="1920240"/>
            <a:ext cx="4617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for cost tables / models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Pre-post change testing (ratios by tier)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summary metrics annually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replication path (auditability)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narrative to taxpayers: “fair share” across neighborhoods and value tiers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12280" y="5440680"/>
            <a:ext cx="46177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95160" y="565099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move: measure and publish vertical equity, not just median ratio.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556248"/>
            <a:ext cx="531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slide is a governance blueprint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24448" y="6556248"/>
            <a:ext cx="531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Measurement-first pilot: cost-model counterfactual + equity outcomes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low-risk evaluation design (no vendor mandate; no policy prescription)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41248"/>
            <a:ext cx="2926080" cy="329184"/>
          </a:xfrm>
          <a:prstGeom prst="round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9052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109728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155448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same properties → two cost regimes → compare equity metrics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2148840"/>
            <a:ext cx="2423160" cy="21488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3317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2697480"/>
            <a:ext cx="1965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sales</a:t>
            </a:r>
            <a:endParaRPr lang="en-US" sz="11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characteristics</a:t>
            </a:r>
            <a:endParaRPr lang="en-US" sz="11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date values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3017520"/>
            <a:ext cx="182880" cy="411480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66160" y="2148840"/>
            <a:ext cx="2423160" cy="21488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94760" y="23317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94760" y="2697480"/>
            <a:ext cx="1965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cost tables</a:t>
            </a:r>
            <a:endParaRPr lang="en-US" sz="11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(existing practice)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3017520"/>
            <a:ext cx="182880" cy="411480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2148840"/>
            <a:ext cx="2423160" cy="21488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3317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2697480"/>
            <a:ext cx="1965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cost service</a:t>
            </a:r>
            <a:endParaRPr lang="en-US" sz="11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(baseline)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732520" y="3017520"/>
            <a:ext cx="182880" cy="411480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0" y="2148840"/>
            <a:ext cx="2423160" cy="2148840"/>
          </a:xfrm>
          <a:prstGeom prst="roundRect">
            <a:avLst/>
          </a:prstGeom>
          <a:solidFill>
            <a:srgbClr val="1F7A8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9720" y="23317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89720" y="2697480"/>
            <a:ext cx="1965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/ PRB</a:t>
            </a:r>
            <a:endParaRPr lang="en-US" sz="11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Ratio-by-tier plots</a:t>
            </a:r>
            <a:endParaRPr lang="en-US" sz="11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+ median</a:t>
            </a:r>
            <a:endParaRPr lang="en-US" sz="11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Appeals (optional)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" y="49834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it’s legislator-safe: this produces evidence without prescribing a tool, vendor, or mandate.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51560" y="530352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a short public report + reproducible appendix (methods, stratification, sensitivity checks).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6556248"/>
            <a:ext cx="531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template aligned with IAAO ratio-study practice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24448" y="6556248"/>
            <a:ext cx="531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 1108 (2025–26): the Legislature already chose the “study first” approach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status: passed Legislature; governor vetoed (May 20, 2025)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41248"/>
            <a:ext cx="2926080" cy="329184"/>
          </a:xfrm>
          <a:prstGeom prst="round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9052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Legislative context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56692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1554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HB 1108 did (in concept)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920240"/>
            <a:ext cx="502920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 from a legislative task force to a WSIPP-led study</a:t>
            </a:r>
            <a:endParaRPr lang="en-US" sz="11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primary cost drivers for homeownership and rental housing</a:t>
            </a:r>
            <a:endParaRPr lang="en-US" sz="11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Emphasized evidence, stakeholder input, and an analytical deliverable</a:t>
            </a:r>
            <a:endParaRPr lang="en-US" sz="11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endParaRPr lang="en-US" sz="11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the policy model was “measure first.”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37960" y="1325880"/>
            <a:ext cx="5166360" cy="5074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12280" y="1572768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+ why it matters now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12280" y="1920240"/>
            <a:ext cx="4617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summary shows “Gov vetoed”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without HB 1108, the analytic need remains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narrower pilot can be funded at low cost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Proposal: add a focused “assessment equity / cost-model assumptions” workstream to any future housing cost-driver analysis.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12280" y="5577840"/>
            <a:ext cx="46177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95160" y="574243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Low-risk: descriptive outputs; no mandates.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556248"/>
            <a:ext cx="531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 1108 context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24448" y="6556248"/>
            <a:ext cx="531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 2269 (2025–26): middle housing in unincorporated areas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Housing-form change increases the need for accurate costing and transparent equity monitoring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41248"/>
            <a:ext cx="2926080" cy="329184"/>
          </a:xfrm>
          <a:prstGeom prst="round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9052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Legislative context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580644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155448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HB 2269 proposes (high level)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920240"/>
            <a:ext cx="516636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Clarifies middle housing can include up to four units per lot</a:t>
            </a:r>
            <a:endParaRPr lang="en-US" sz="11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“more restrictive” standards for middle housing vs detached single-family (objective regs allowed)</a:t>
            </a:r>
            <a:endParaRPr lang="en-US" sz="11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certain rural contexts, allows large on-site sewage systems as an alternative to public sewer</a:t>
            </a:r>
            <a:endParaRPr lang="en-US" sz="11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endParaRPr lang="en-US" sz="11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effect: more unit types and more infrastructure variance—harder to model with one-size-fits-all assumptions.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20840" y="1325880"/>
            <a:ext cx="4983480" cy="5074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95160" y="1572768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intersects with tax fairness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95160" y="192024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housing types diversify: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95160" y="2286000"/>
            <a:ext cx="4434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Replacement-cost relationships become less linear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Quality/condition grading matters more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Stratification by housing form becomes necessary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can concentrate by tier → perceived unfairness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95160" y="4434840"/>
            <a:ext cx="4434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Measurement-first response: encourage annual equity reporting by major housing forms and value tiers.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556248"/>
            <a:ext cx="531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 2269 context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24448" y="6556248"/>
            <a:ext cx="531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actionable for Rep. Bernbaum (SP)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with housing supply and fairness, without mandates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41248"/>
            <a:ext cx="2926080" cy="329184"/>
          </a:xfrm>
          <a:prstGeom prst="round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9052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109728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1554480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“safe” levers that reinforce supply and fairness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51560" y="2011680"/>
            <a:ext cx="1033272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2176272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Transparency standard (reporting)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251460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public reporting of median ratio, COD, and a vertical equity measure (PRD/PRB or tier plots) by major property class.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51560" y="3520440"/>
            <a:ext cx="10332720" cy="1325880"/>
          </a:xfrm>
          <a:prstGeom prst="roundRect">
            <a:avLst/>
          </a:prstGeom>
          <a:solidFill>
            <a:srgbClr val="FDF7E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3685032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Voluntary pilot (evidence)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402336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One-county or multi-county pilot comparing cost assumptions against vertical equity outcomes (descriptive only).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51560" y="5029200"/>
            <a:ext cx="1033272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25880" y="5193792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Capacity enablement (implementation)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553212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modernization support for data quality, modeling, and ratio-study tooling—so supply reforms don’t break administrative fairness.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556248"/>
            <a:ext cx="531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actions are compatible with pro-supply policy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24448" y="6556248"/>
            <a:ext cx="531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public dashboard that would raise trust (and lower noise)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updates, automated ingestion, and outcomes that are easy to explain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41248"/>
            <a:ext cx="2926080" cy="329184"/>
          </a:xfrm>
          <a:prstGeom prst="round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9052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109728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1554480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panels (minimal, meaningful)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51560" y="2057400"/>
            <a:ext cx="2880360" cy="3611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22402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 — Level &amp; uniformity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2633472"/>
            <a:ext cx="2514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ratio (by class)</a:t>
            </a:r>
            <a:endParaRPr lang="en-US" sz="11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(by class)</a:t>
            </a:r>
            <a:endParaRPr lang="en-US" sz="11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Confidence/coverage notes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60520" y="2057400"/>
            <a:ext cx="2880360" cy="3611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22402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B — Vertical equity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43400" y="2633472"/>
            <a:ext cx="2514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PRD/PRB or tier plots</a:t>
            </a:r>
            <a:endParaRPr lang="en-US" sz="11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 strata checks</a:t>
            </a:r>
            <a:endParaRPr lang="en-US" sz="11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“tilt” thresholds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69480" y="2057400"/>
            <a:ext cx="2880360" cy="3611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52360" y="22402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C — Outcomes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52360" y="2633472"/>
            <a:ext cx="2514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 rate by tier</a:t>
            </a:r>
            <a:endParaRPr lang="en-US" sz="11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magnitude</a:t>
            </a:r>
            <a:endParaRPr lang="en-US" sz="11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cycle time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58064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ingestion: annual ratio outputs + appeals + basic operational stats. Publish with plain-English narratives.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556248"/>
            <a:ext cx="531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concept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24448" y="6556248"/>
            <a:ext cx="531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can pursue more housing supply while improving tax fairness—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measure what matters and prevent assessment tier bias.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3108960"/>
            <a:ext cx="10881360" cy="2377440"/>
          </a:xfrm>
          <a:prstGeom prst="round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342900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ask: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379476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a measurement-first approach: publish equity metrics (including vertical equity) and run a low-cost pilot before prescribing tools.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Prepared with ChatGPT</dc:creator>
  <cp:lastModifiedBy>Prepared with ChatGPT</cp:lastModifiedBy>
  <cp:revision>1</cp:revision>
  <dcterms:created xsi:type="dcterms:W3CDTF">2026-01-09T22:37:15Z</dcterms:created>
  <dcterms:modified xsi:type="dcterms:W3CDTF">2026-01-09T22:37:15Z</dcterms:modified>
</cp:coreProperties>
</file>