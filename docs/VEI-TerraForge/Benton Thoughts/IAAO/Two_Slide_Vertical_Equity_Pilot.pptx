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property ratio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Benton</c:v>
                  </c:pt>
                  <c:pt idx="1">
                    <c:v>Spokane</c:v>
                  </c:pt>
                  <c:pt idx="2">
                    <c:v>Yakima</c:v>
                  </c:pt>
                  <c:pt idx="3">
                    <c:v>Franklin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95.8</c:v>
                </c:pt>
                <c:pt idx="1">
                  <c:v>95</c:v>
                </c:pt>
                <c:pt idx="2">
                  <c:v>92.4</c:v>
                </c:pt>
                <c:pt idx="3">
                  <c:v>91.8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(PRD guidance): https://www.iaao.org/wp-content/uploads/Standard_on_Ratio_Studies.pdf
- WA DOR Property Tax Ratios by County (2024 for 2025 taxes): https://dor.wa.gov/sites/default/files/2025-01/2024-ratios-2025%20taxes.pdf
- Washington State Capitol photo (Wikimedia Commons): https://upload.wikimedia.org/wikipedia/commons/thumb/9/90/The_Washington_State_Capitol.jpg/600px-The_Washington_State_Capitol.jpg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(stratification; PRD/PRB interpretation): https://www.iaao.org/wp-content/uploads/Standard_on_Ratio_Studies.pdf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 (PRD) protects “fair share” within property tax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Benton is near full market value; vertical equity requires tier testing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5778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avoid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ratios fall as value rises, higher-value properties pay less than their intended share.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with: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PRD / PRB (price-related bias)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Ratio-by-value-tier plots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 commonly treats PRD near 1.00 (often ~0.98–1.03) as indicating limited price-related bias (context matters).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37960" y="1143000"/>
            <a:ext cx="491947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417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level snapshot (DOR)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720840" y="1783080"/>
          <a:ext cx="473659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720840" y="4297680"/>
            <a:ext cx="4736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≠ vertical equity.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bias requires stratified ratio work.</a:t>
            </a:r>
            <a:endParaRPr lang="en-US" sz="1100" dirty="0"/>
          </a:p>
        </p:txBody>
      </p:sp>
      <p:pic>
        <p:nvPicPr>
          <p:cNvPr id="12" name="Image 0" descr="/mnt/data/assets/wa_capitol.jpg">    </p:cNvPr>
          <p:cNvPicPr>
            <a:picLocks noChangeAspect="1"/>
          </p:cNvPicPr>
          <p:nvPr/>
        </p:nvPicPr>
        <p:blipFill>
          <a:blip r:embed="rId2"/>
          <a:srcRect l="0" r="0" t="30173" b="30173"/>
          <a:stretch/>
        </p:blipFill>
        <p:spPr>
          <a:xfrm>
            <a:off x="6537960" y="4983480"/>
            <a:ext cx="4919472" cy="1463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7960" y="4983480"/>
            <a:ext cx="4919472" cy="14630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12280" y="5715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Policy-safe message: measure, publish, and correct bias early.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Two-slide brief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protocol: compare cost assumptions to equity outcomes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first. No mandates. Replicable methods.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3898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same properties → two model regimes → compare PRD / tier plots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423160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3911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404872"/>
            <a:ext cx="20208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sales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characteristics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182880" cy="4114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874520"/>
            <a:ext cx="2423160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03911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7328" y="2404872"/>
            <a:ext cx="20208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cost tables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 practice)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834640"/>
            <a:ext cx="182880" cy="4114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874520"/>
            <a:ext cx="2423160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03911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64808" y="2404872"/>
            <a:ext cx="20208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cost service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32520" y="2834640"/>
            <a:ext cx="182880" cy="4114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874520"/>
            <a:ext cx="2423160" cy="2331720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2039112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62288" y="2404872"/>
            <a:ext cx="20208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PRB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plots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COD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public memo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617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example: if PRD moves closer to 1.00 without degrading COD, keep the change; otherwise revise.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(1) methods + stratification, (2) results tables, (3) plain-English narrative, (4) reproducibility appendix.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Two-slide brief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Prepared with ChatGPT</dc:creator>
  <cp:lastModifiedBy>Prepared with ChatGPT</cp:lastModifiedBy>
  <cp:revision>1</cp:revision>
  <dcterms:created xsi:type="dcterms:W3CDTF">2026-01-09T22:40:05Z</dcterms:created>
  <dcterms:modified xsi:type="dcterms:W3CDTF">2026-01-09T22:40:05Z</dcterms:modified>
</cp:coreProperties>
</file>