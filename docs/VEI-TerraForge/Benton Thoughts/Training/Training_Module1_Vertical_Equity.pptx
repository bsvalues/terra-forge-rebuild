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Proportional (flat)</c:v>
                </c:pt>
              </c:strCache>
            </c:strRef>
          </c:tx>
          <c:spPr>
            <a:solidFill>
              <a:srgbClr val="0F766E"/>
            </a:solidFill>
            <a:ln w="25400" cap="flat">
              <a:solidFill>
                <a:srgbClr val="0F766E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F766E"/>
              </a:solidFill>
              <a:ln w="9525" cap="flat">
                <a:solidFill>
                  <a:srgbClr val="0F766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T1</c:v>
                  </c:pt>
                  <c:pt idx="1">
                    <c:v>T2</c:v>
                  </c:pt>
                  <c:pt idx="2">
                    <c:v>T3</c:v>
                  </c:pt>
                  <c:pt idx="3">
                    <c:v>T4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Regressive drift</c:v>
                </c:pt>
              </c:strCache>
            </c:strRef>
          </c:tx>
          <c:spPr>
            <a:solidFill>
              <a:srgbClr val="B91C1C"/>
            </a:solidFill>
            <a:ln w="25400" cap="flat">
              <a:solidFill>
                <a:srgbClr val="B91C1C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91C1C"/>
              </a:solidFill>
              <a:ln w="9525" cap="flat">
                <a:solidFill>
                  <a:srgbClr val="B91C1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T1</c:v>
                  </c:pt>
                  <c:pt idx="1">
                    <c:v>T2</c:v>
                  </c:pt>
                  <c:pt idx="2">
                    <c:v>T3</c:v>
                  </c:pt>
                  <c:pt idx="3">
                    <c:v>T4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103</c:v>
                </c:pt>
                <c:pt idx="1">
                  <c:v>101</c:v>
                </c:pt>
                <c:pt idx="2">
                  <c:v>99</c:v>
                </c:pt>
                <c:pt idx="3">
                  <c:v>97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6"/>
          <c:min val="94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[Script]
Open with the thesis: "Equity is a system property." Today we’ll define vertical equity, show how regressivity/progressivity appear, and explain why a single statistic (like median ratio or COD) can’t carry the whole fairness conversation.
[Sources]
- https://www.iaao.org/wp-content/uploads/Standard_on_Ratio_Studies.pdf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[Script]
Define horizontal vs vertical equity. Emphasize: COD is a *uniformity* signal; vertical equity is about proportionality across value tiers. You need both.
[Sources]
- https://www.iaao.org/wp-content/uploads/Standard_on_Ratio_Studies.pdf
- https://arl.colorado.gov/chapter-8-statistical-measurements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[Script]
Make it practical: the sales file is your microscope—if the lens is dirty, everything downstream is wrong. Define arm’s-length in one sentence, then give 4–5 “watch-outs.”
[Sources]
- https://www.investopedia.com/terms/a/armslength.asp
- https://www.mckissock.com/blog/appraisal/what-does-arms-length-mean-in-real-estate/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[Script]
Teach the visual first. Legislators grasp a slope faster than a statistic. Then tell analysts: this is the same signal PRD summarizes.
[Sources]
- https://www.iaao.org/wp-content/uploads/Standard_on_Ratio_Studies.pdf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[Script]
Define PRD and PRB succinctly. The key teaching move: PRD is intuitive but can be sensitive to outliers; PRB is often more robust but harder to compute. For non-technical audiences, stick with tier plot + PRD.
[Sources]
- https://www.iaao.org/wp-content/uploads/Standard_on_Ratio_Studies.pdf
- https://propertytax.dor.wa.gov/sites/default/files/2024-07/IAAO%20Standards%20on%20Ratio%20Studies_Part3Appendixes.pdf
- https://www.iaao.org/wp-content/uploads/Slides_Assessment_Tools_and_Techniques.pdf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[Script]
This slide is the money slide for policymakers: "A low PRD can be a fluke if the system is noisy." For analysts: COD is the quality control layer.
[Sources]
- https://www.iaao.org/wp-content/uploads/Standard_on_Ratio_Studies.pdf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[Script]
For the mixed audience: emphasize separation of measurement from implementation. This keeps adoption voluntary, defensible, and not a procurement fight.
[Sources]
- https://www.iaao.org/wp-content/uploads/Standard_on_Ratio_Studies.pdf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[Script]
This slide helps keep mixed-audience sessions on track. When someone asks a question outside their lane, redirect: "For today, here’s what you need to know." Then park deeper technical detail for Module 3.
[Sources]
- https://www.iaao.org/wp-content/uploads/Standard_on_Ratio_Studies.pdf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[Script]
Let assessors talk operations, analysts talk diagnostics, legislators talk oversight questions. Wrap by emphasizing: high COD means interpret cautiously; look for repeated drift and segment concentration.
[Sources]
- https://www.iaao.org/wp-content/uploads/Standard_on_Ratio_Studies.pdf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[Script]
Re-state the three takeaways and preview Module 2. Ask for one question from each audience group.
[Sources]
- https://www.iaao.org/wp-content/uploads/Standard_on_Ratio_Studies.pdf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206240"/>
            <a:ext cx="12191695" cy="2651760"/>
          </a:xfrm>
          <a:prstGeom prst="rect">
            <a:avLst/>
          </a:prstGeom>
          <a:solidFill>
            <a:srgbClr val="0F4C81">
              <a:alpha val="85000"/>
            </a:srgbClr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0972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Module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Equity: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 (and isn’t) — and how to talk about it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154680"/>
            <a:ext cx="1408176" cy="310896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Assessors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23160" y="3154680"/>
            <a:ext cx="1307592" cy="310896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0" y="3154680"/>
            <a:ext cx="1609344" cy="310896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Legislators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480060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Equity is a system property—visible in the distribution, not just the headline ratio.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kinds of fairness in assessment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326880" y="20116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539496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2344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equity (uniformity)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5544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“Similar properties are assessed similarly.”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148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diagnostic: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4231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 (Coefficient of Dispersion)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92608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If ratios are scattered, the system feels arbitrary and equity signals become noisy.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1051560"/>
            <a:ext cx="539496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46520" y="12344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equity (proportionality)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46520" y="1554480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“Low-, mid-, and high-value properties are assessed at similar % of market value.”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46520" y="2468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diagnostics: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46520" y="27432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/ PRB + tier medians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46520" y="324612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A system can be “accurate on average” and still be regressive (or progressive) across value tiers.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" y="4434840"/>
            <a:ext cx="411480" cy="411480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18" name="Shape 16"/>
          <p:cNvSpPr/>
          <p:nvPr/>
        </p:nvSpPr>
        <p:spPr>
          <a:xfrm>
            <a:off x="6446520" y="4434840"/>
            <a:ext cx="411480" cy="41148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9" name="Text 17"/>
          <p:cNvSpPr/>
          <p:nvPr/>
        </p:nvSpPr>
        <p:spPr>
          <a:xfrm>
            <a:off x="1417320" y="44988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49440" y="44988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6665976"/>
            <a:ext cx="11155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evidence: what counts as “market”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326880" y="20116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1097280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23444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“arm’s-length” matters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60020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studies treat sale price as a proxy for market value. If sales are non-market, your “fairness” signals are distorted.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2331720"/>
            <a:ext cx="5257800" cy="36118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251460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Arm’s-length sale (valid evidence)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2880360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Unrelated parties • Independent decisions • No unusual pressure or concessions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3000" y="370332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validated, documented sales as the evidence set.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55080" y="2331720"/>
            <a:ext cx="5257800" cy="361188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251460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Non-market / special-condition sale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0" y="288036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transfers • Estates • Forced sales • Major post-sale improvements • Atypical financing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0" y="379476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can be real transactions, but they are often weak evidence for market calibration.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6665976"/>
            <a:ext cx="11155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regressivity/progressivity shows up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326880" y="20116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1097280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23444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ratio by value tier (example)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55448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downward slope suggests regressivity (lower tiers assessed at higher ratios).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1005840" y="2057400"/>
          <a:ext cx="102412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914400" y="6108192"/>
            <a:ext cx="10424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the tier plot is a “drift detector” that complements PRD.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6665976"/>
            <a:ext cx="11155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vertical equity diagnostics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326880" y="20116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1097280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32588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(Price-Related Differential)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IAAO describes PRD as an index for vertical equity: mean ratio ÷ weighted mean ratio. Values near 1.00 indicate proportionality; above 1.00 suggests regressivity; below 1.00 suggests progressivity.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2697480"/>
            <a:ext cx="10424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88036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PRB (Coefficient of Price-Related Bias)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32918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PRB is a regression-based vertical equity measure that quantifies the relationship between ratios and value. It is generally centered near 0; positive indicates progressivity, negative indicates regressivity.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06908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guidance: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434340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tier plots for interpretability; use PRD/PRB to summarize; always read them alongside COD (signal quality).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6665976"/>
            <a:ext cx="11155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 is a signal-quality control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326880" y="20116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1097280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3716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COD belongs in the vertical equity conversation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assessment ratios are highly dispersed, a “good” PRD (or a flat tier plot) can be misleading. High dispersion reduces confidence in vertical equity conclusions.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2743200"/>
            <a:ext cx="5074920" cy="3383280"/>
          </a:xfrm>
          <a:prstGeom prst="rect">
            <a:avLst/>
          </a:prstGeom>
          <a:solidFill>
            <a:srgbClr val="ECFDF5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292608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A: Low COD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3291840"/>
            <a:ext cx="4617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Ratios cluster tightly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Tier plot is stable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PRD/PRB more trustworthy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3000" y="4434840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investigate drift only if it repeats over time or concentrates in specific segments.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2743200"/>
            <a:ext cx="5074920" cy="33832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92608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B: High COD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0" y="3291840"/>
            <a:ext cx="4617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Ratios are scattered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Tier medians can wobble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PRD can be outlier-driven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92240" y="4434840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treat equity read as “low confidence” until uniformity and data quality improve.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6665976"/>
            <a:ext cx="11155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Measurement-first (non-punitive) packet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326880" y="20116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1097280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23444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reported (minimum viable standard)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6459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outputs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965960"/>
            <a:ext cx="5212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(current + 3–5 year trend)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medians table + tier plot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 (current + trend)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2461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5661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Appeals by value tier (counts + outcomes)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1600200"/>
            <a:ext cx="5303520" cy="4480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17830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packet is NOT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55080" y="214884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 a vendor comparison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 a mandated method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 a ranking/scoreboard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 an automatic enforcement trigger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55080" y="37490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transparency tool: measure → interpret → document → decide.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6665976"/>
            <a:ext cx="11155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talk about vertical equity (3 audiences)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326880" y="20116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1097280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463040"/>
            <a:ext cx="27889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463040"/>
            <a:ext cx="2788920" cy="4114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527048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Assessors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2057400"/>
            <a:ext cx="23317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sales → define the evidence set</a:t>
            </a:r>
            <a:endParaRPr lang="en-US" sz="125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tier drift + PRD alongside COD</a:t>
            </a:r>
            <a:endParaRPr lang="en-US" sz="125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actions (or why no action)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60520" y="1463040"/>
            <a:ext cx="27889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60520" y="1463040"/>
            <a:ext cx="2788920" cy="41148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60520" y="1527048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89120" y="2057400"/>
            <a:ext cx="23317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PRD + tier medians + COD consistently</a:t>
            </a:r>
            <a:endParaRPr lang="en-US" sz="125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for thin n / outliers; flag low-confidence</a:t>
            </a:r>
            <a:endParaRPr lang="en-US" sz="125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results reproducible (inputs lock + versioning)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406640" y="1463040"/>
            <a:ext cx="27889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06640" y="1463040"/>
            <a:ext cx="2788920" cy="41148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0" y="1527048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Legislators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635240" y="2057400"/>
            <a:ext cx="23317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the packet, not a vendor story</a:t>
            </a:r>
            <a:endParaRPr lang="en-US" sz="125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drift over time, not one year</a:t>
            </a:r>
            <a:endParaRPr lang="en-US" sz="125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capacity (training + analytics) over mandates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6665976"/>
            <a:ext cx="11155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(10 minutes): Read the signals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326880" y="20116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1097280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23444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600200"/>
            <a:ext cx="104241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three years of packets. Year 3 shows: PRD = 1.05, tier plot slopes downward, COD also rises.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in groups: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What is the likely story?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What is high confidence vs low confidence?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What would you do next (measurements + investigation)?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separate “signal” (drift) from “data quality” (dispersion, sample).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6665976"/>
            <a:ext cx="11155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Wrap-up: what to remember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326880" y="20116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1097280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32588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takeaways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187452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Vertical equity is proportionality across value tiers (watch the slope).</a:t>
            </a:r>
            <a:endParaRPr lang="en-US" sz="1600" dirty="0"/>
          </a:p>
          <a:p>
            <a:pPr marL="254000" indent="-2540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COD is signal quality—without uniformity, equity reads are lower confidence.</a:t>
            </a:r>
            <a:endParaRPr lang="en-US" sz="1600" dirty="0"/>
          </a:p>
          <a:p>
            <a:pPr marL="254000" indent="-2540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The packet is measurement-first: it informs oversight without prescribing tools or methods.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3749040"/>
            <a:ext cx="10424160" cy="2103120"/>
          </a:xfrm>
          <a:prstGeom prst="round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397764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(Module 2): How to build the packet (data → outputs) and avoid common traps.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470916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standardize: study context, tiering, suppression rules, trends, and narrative findings.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6665976"/>
            <a:ext cx="11155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Benton County (generated with ChatGPT)</dc:creator>
  <cp:lastModifiedBy>Benton County (generated with ChatGPT)</cp:lastModifiedBy>
  <cp:revision>1</cp:revision>
  <dcterms:created xsi:type="dcterms:W3CDTF">2026-01-21T05:54:29Z</dcterms:created>
  <dcterms:modified xsi:type="dcterms:W3CDTF">2026-01-21T05:54:29Z</dcterms:modified>
</cp:coreProperties>
</file>