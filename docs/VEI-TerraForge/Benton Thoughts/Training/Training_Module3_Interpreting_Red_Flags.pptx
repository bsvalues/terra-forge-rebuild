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framing: Module 3 is about interpretation discipline.</a:t>
            </a:r>
          </a:p>
          <a:p>
            <a:r>
              <a:t>We teach assessors how to separate (1) signal vs noise, (2) measurement vs action, and (3) technical drift vs policy narratives.</a:t>
            </a:r>
          </a:p>
          <a:p>
            <a:r>
              <a:t>Key line: 'A red flag is a prompt to investigate—not a verdict.'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most 'controversies' happen when people jump from Lane B to Lane C without Lane A.</a:t>
            </a:r>
          </a:p>
          <a:p>
            <a:r>
              <a:t>We will move through lanes in order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PRD is the primary vertical equity signal, but it can be unstable with thin data or high dispersion.</a:t>
            </a:r>
          </a:p>
          <a:p>
            <a:r>
              <a:t>Never act on PRD alone. Always triangulate with tier medians and COD.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plots are intuitive and persuasive to legislators; that makes them dangerous if misread.</a:t>
            </a:r>
          </a:p>
          <a:p>
            <a:r>
              <a:t>Explain composition shift: if high-end sales are mostly new builds this year, tier slope may reflect condition/age differences rather than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 is the 'quality control' metric. If COD is high, PRD may look 'ok' or 'bad' by chance.</a:t>
            </a:r>
          </a:p>
          <a:p>
            <a:r>
              <a:t>High COD often means mixed submarkets, inconsistent data, or model misfit for a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anger can come from taxes, not values; or from visibility of change, not unfairness.</a:t>
            </a:r>
          </a:p>
          <a:p>
            <a:r>
              <a:t>Teach the separation: assessments vs levies vs tax bills.</a:t>
            </a:r>
          </a:p>
          <a:p>
            <a:r>
              <a:t>Use appeals-by-tier only as supporting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controlled tilt as an alternative diagnostic when summary measures mislead.</a:t>
            </a:r>
          </a:p>
          <a:p>
            <a:r>
              <a:t>Stress: it is still measurement, not a mandate; we document the limitations and proceed cautiously.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quickly with examples.</a:t>
            </a:r>
          </a:p>
          <a:p>
            <a:r>
              <a:t>Key point: many 'red flags' are artifacts of the study window or definitions. That’s why context lock is in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'pattern over time' thinking.</a:t>
            </a:r>
          </a:p>
          <a:p>
            <a:r>
              <a:t>One-year red flags are hypotheses; multi-year consistent patterns are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decision tree as the repeatable playbook.</a:t>
            </a:r>
          </a:p>
          <a:p>
            <a:r>
              <a:t>Emphasize that 'monitor' is a legitimate outcome if rationale is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maps directly to the Findings Packet template.</a:t>
            </a:r>
          </a:p>
          <a:p>
            <a:r>
              <a:t>Goal is a court-ready administrative record: transparent, neutral, non-punitive.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them the exact language to avoid political traps.</a:t>
            </a:r>
          </a:p>
          <a:p>
            <a:r>
              <a:t>If asked 'Is County X failing?' answer: 'We do not rank counties; we review trends and support improvement.'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as 10–15 minute exercise.</a:t>
            </a:r>
          </a:p>
          <a:p>
            <a:r>
              <a:t>Groups answer: (1) lane A checks, (2) likely cause, (3) action choice, (4) one paragraph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previewing next module if desired (calibration governance / change control).</a:t>
            </a:r>
          </a:p>
          <a:p>
            <a:r>
              <a:t>Reinforce statewide doctrine: measurement separated from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Interpreting Red Flags (Without Overreacting)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How to read VEI signals responsibly</a:t>
            </a:r>
          </a:p>
          <a:p>
            <a:pPr/>
            <a:r>
              <a:t>Avoid false alarms, political panic, and bad fixes</a:t>
            </a:r>
          </a:p>
          <a:p>
            <a:pPr/>
            <a:r>
              <a:t>Fail-closed governance + professional judgment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3 Interpretation 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Lane A: Technical validity (data + methods)</a:t>
            </a:r>
          </a:p>
          <a:p>
            <a:pPr/>
            <a:r>
              <a:t>Lane B: Statistical signal (PRD/tiers/PRB)</a:t>
            </a:r>
          </a:p>
          <a:p>
            <a:pPr/>
            <a:r>
              <a:t>Lane C: Governance decision (documented action or no-action)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Flag #1: PRD moved away from 1.00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 question: is the PRD stable?</a:t>
            </a:r>
          </a:p>
          <a:p>
            <a:pPr/>
            <a:r>
              <a:t>Check COD + coverage + tier plot</a:t>
            </a:r>
          </a:p>
          <a:p>
            <a:pPr/>
            <a:r>
              <a:t>Then segment: neighborhoods / quality / housing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Flag #2: Tier plot slopes (regressive/progressive)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Confirm monotonic drift (not one-tier wobble)</a:t>
            </a:r>
          </a:p>
          <a:p>
            <a:pPr/>
            <a:r>
              <a:t>Check if slope is driven by a segment</a:t>
            </a:r>
          </a:p>
          <a:p>
            <a:pPr/>
            <a:r>
              <a:t>Look for 'composition shift' in sales mix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Flag #3: COD is high (signal quality warning)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 COD reduces confidence in equity conclusions</a:t>
            </a:r>
          </a:p>
          <a:p>
            <a:pPr/>
            <a:r>
              <a:t>Treat as: 'data/model heterogeneity present'</a:t>
            </a:r>
          </a:p>
          <a:p>
            <a:pPr/>
            <a:r>
              <a:t>Action is often segmentation or data hygiene—not global tilt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Flag #4: PRD looks fine but taxpayers are angry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Appeals are lagging and selective</a:t>
            </a:r>
          </a:p>
          <a:p>
            <a:pPr/>
            <a:r>
              <a:t>Compare appeals by tier (optional)</a:t>
            </a:r>
          </a:p>
          <a:p>
            <a:pPr/>
            <a:r>
              <a:t>Check change drivers: exemptions, levy narratives, notices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PRD/Tiers are Unstable: Controlled Tilt 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when: thin n, high COD, mixed segments</a:t>
            </a:r>
          </a:p>
          <a:p>
            <a:pPr/>
            <a:r>
              <a:t>Goal: detect directional bias with uncertainty noted</a:t>
            </a:r>
          </a:p>
          <a:p>
            <a:pPr/>
            <a:r>
              <a:t>Result drives 'review' not 'auto-fix'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False Positives (Don’t Panic)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Small n / thin cells</a:t>
            </a:r>
          </a:p>
          <a:p>
            <a:pPr/>
            <a:r>
              <a:t>Market shock period (interest rate spike, local employer event)</a:t>
            </a:r>
          </a:p>
          <a:p>
            <a:pPr/>
            <a:r>
              <a:t>Sales validation change mid-year</a:t>
            </a:r>
          </a:p>
          <a:p>
            <a:pPr/>
            <a:r>
              <a:t>New construction mix shift</a:t>
            </a:r>
          </a:p>
          <a:p>
            <a:pPr/>
            <a:r>
              <a:t>Boundary/strata definition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True Positives (Do Investigate)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Consistent tier drift across years</a:t>
            </a:r>
          </a:p>
          <a:p>
            <a:pPr/>
            <a:r>
              <a:t>PRD trend deteriorates with stable COD</a:t>
            </a:r>
          </a:p>
          <a:p>
            <a:pPr/>
            <a:r>
              <a:t>Drift concentrated in specific neighborhoods/quality tiers</a:t>
            </a:r>
          </a:p>
          <a:p>
            <a:pPr/>
            <a:r>
              <a:t>Holdout confirms direction (if used)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Tree: What to Do When You See a Red Flag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Validate Lane A (coverage/COD/definitions)</a:t>
            </a:r>
          </a:p>
          <a:p>
            <a:pPr/>
            <a:r>
              <a:t>2) Localize (which segments drive it?)</a:t>
            </a:r>
          </a:p>
          <a:p>
            <a:pPr/>
            <a:r>
              <a:t>3) Choose action: data fix, segmentation, calibration review, or monitor</a:t>
            </a:r>
          </a:p>
          <a:p>
            <a:pPr/>
            <a:r>
              <a:t>4) Document in Findings Packet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Write the Narrative So It Survives Scrutiny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Say what you measured (VEI-MVS)</a:t>
            </a:r>
          </a:p>
          <a:p>
            <a:pPr/>
            <a:r>
              <a:t>Say what it means (plain language)</a:t>
            </a:r>
          </a:p>
          <a:p>
            <a:pPr/>
            <a:r>
              <a:t>Say confidence level (COD/coverage)</a:t>
            </a:r>
          </a:p>
          <a:p>
            <a:pPr/>
            <a:r>
              <a:t>Say what you did (or why you didn’t)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Legislative Interim: Safe, Neutral Phrases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'Measurement-first, non-punitive monitoring'</a:t>
            </a:r>
          </a:p>
          <a:p>
            <a:pPr/>
            <a:r>
              <a:t>'No vendor or method mandates'</a:t>
            </a:r>
          </a:p>
          <a:p>
            <a:pPr/>
            <a:r>
              <a:t>'Signals prompt review, not punishment'</a:t>
            </a:r>
          </a:p>
          <a:p>
            <a:pPr/>
            <a:r>
              <a:t>'Support capacity and training'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3 Scenarios (Small Group)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Scenario A: PRD 1.07, COD low, tier slope regressive</a:t>
            </a:r>
          </a:p>
          <a:p>
            <a:pPr/>
            <a:r>
              <a:t>Scenario B: PRD 1.02, COD high, tier plot noisy</a:t>
            </a:r>
          </a:p>
          <a:p>
            <a:pPr/>
            <a:r>
              <a:t>Scenario C: PRD 0.99, COD stable, appeals concentrated in Tier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Takeaways +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 flags are investigation triggers, not verdicts</a:t>
            </a:r>
          </a:p>
          <a:p>
            <a:pPr/>
            <a:r>
              <a:t>Triangulate: PRD + tiers + COD + context</a:t>
            </a:r>
          </a:p>
          <a:p>
            <a:pPr/>
            <a:r>
              <a:t>Act locally first; global fixes last</a:t>
            </a:r>
          </a:p>
          <a:p>
            <a:pPr/>
            <a:r>
              <a:t>Document decisions (action or no-action)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